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Lst>
  <p:sldSz cy="43192700" cx="323977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7" roundtripDataSignature="AMtx7mi2nLgMvk9ovk0IWhzzjw0lH8Fgk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4"/>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4"/>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6"/>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6"/>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7"/>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7"/>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8"/>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8"/>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8"/>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8"/>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10"/>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10"/>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10"/>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1"/>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1"/>
          <p:cNvSpPr/>
          <p:nvPr>
            <p:ph idx="2" type="pic"/>
          </p:nvPr>
        </p:nvSpPr>
        <p:spPr>
          <a:xfrm>
            <a:off x="1792288" y="612775"/>
            <a:ext cx="5486400" cy="4114800"/>
          </a:xfrm>
          <a:prstGeom prst="rect">
            <a:avLst/>
          </a:prstGeom>
          <a:noFill/>
          <a:ln>
            <a:noFill/>
          </a:ln>
        </p:spPr>
      </p:sp>
      <p:sp>
        <p:nvSpPr>
          <p:cNvPr id="64" name="Google Shape;64;p11"/>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2"/>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3"/>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3"/>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2"/>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 Id="rId4" Type="http://schemas.openxmlformats.org/officeDocument/2006/relationships/image" Target="../media/image2.png"/><Relationship Id="rId5" Type="http://schemas.openxmlformats.org/officeDocument/2006/relationships/image" Target="../media/image1.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cxnSp>
        <p:nvCxnSpPr>
          <p:cNvPr id="84" name="Google Shape;84;p1"/>
          <p:cNvCxnSpPr/>
          <p:nvPr/>
        </p:nvCxnSpPr>
        <p:spPr>
          <a:xfrm>
            <a:off x="640426" y="8468257"/>
            <a:ext cx="30943393" cy="0"/>
          </a:xfrm>
          <a:prstGeom prst="straightConnector1">
            <a:avLst/>
          </a:prstGeom>
          <a:noFill/>
          <a:ln cap="flat" cmpd="sng" w="142875">
            <a:solidFill>
              <a:srgbClr val="1F351F"/>
            </a:solidFill>
            <a:prstDash val="solid"/>
            <a:round/>
            <a:headEnd len="sm" w="sm" type="none"/>
            <a:tailEnd len="sm" w="sm" type="none"/>
          </a:ln>
        </p:spPr>
      </p:cxnSp>
      <p:grpSp>
        <p:nvGrpSpPr>
          <p:cNvPr id="85" name="Google Shape;85;p1"/>
          <p:cNvGrpSpPr/>
          <p:nvPr/>
        </p:nvGrpSpPr>
        <p:grpSpPr>
          <a:xfrm>
            <a:off x="640426" y="8700224"/>
            <a:ext cx="15115184" cy="1501508"/>
            <a:chOff x="0" y="-9525"/>
            <a:chExt cx="1263953" cy="125558"/>
          </a:xfrm>
        </p:grpSpPr>
        <p:sp>
          <p:nvSpPr>
            <p:cNvPr id="86" name="Google Shape;86;p1"/>
            <p:cNvSpPr/>
            <p:nvPr/>
          </p:nvSpPr>
          <p:spPr>
            <a:xfrm>
              <a:off x="0" y="0"/>
              <a:ext cx="1263953" cy="116033"/>
            </a:xfrm>
            <a:custGeom>
              <a:rect b="b" l="l" r="r" t="t"/>
              <a:pathLst>
                <a:path extrusionOk="0" h="116033" w="1263953">
                  <a:moveTo>
                    <a:pt x="0" y="0"/>
                  </a:moveTo>
                  <a:lnTo>
                    <a:pt x="1263953" y="0"/>
                  </a:lnTo>
                  <a:lnTo>
                    <a:pt x="1263953" y="116033"/>
                  </a:lnTo>
                  <a:lnTo>
                    <a:pt x="0" y="116033"/>
                  </a:lnTo>
                  <a:close/>
                </a:path>
              </a:pathLst>
            </a:custGeom>
            <a:solidFill>
              <a:srgbClr val="20428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87" name="Google Shape;87;p1"/>
            <p:cNvSpPr txBox="1"/>
            <p:nvPr/>
          </p:nvSpPr>
          <p:spPr>
            <a:xfrm>
              <a:off x="0" y="-9525"/>
              <a:ext cx="1263953" cy="125558"/>
            </a:xfrm>
            <a:prstGeom prst="rect">
              <a:avLst/>
            </a:prstGeom>
            <a:solidFill>
              <a:srgbClr val="204286"/>
            </a:solidFill>
            <a:ln>
              <a:noFill/>
            </a:ln>
          </p:spPr>
          <p:txBody>
            <a:bodyPr anchorCtr="0" anchor="ctr" bIns="50800" lIns="50800" spcFirstLastPara="1" rIns="50800" wrap="square" tIns="50800">
              <a:noAutofit/>
            </a:bodyPr>
            <a:lstStyle/>
            <a:p>
              <a:pPr indent="0" lvl="0" marL="0" marR="0" rtl="0" algn="ctr">
                <a:lnSpc>
                  <a:spcPct val="333333"/>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88" name="Google Shape;88;p1"/>
          <p:cNvSpPr txBox="1"/>
          <p:nvPr/>
        </p:nvSpPr>
        <p:spPr>
          <a:xfrm>
            <a:off x="676426" y="9087741"/>
            <a:ext cx="15115184" cy="78790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lang="en-US" sz="6000">
                <a:solidFill>
                  <a:srgbClr val="FFFFFF"/>
                </a:solidFill>
                <a:latin typeface="Arial"/>
                <a:ea typeface="Arial"/>
                <a:cs typeface="Arial"/>
                <a:sym typeface="Arial"/>
              </a:rPr>
              <a:t>INTRODUÇÃO</a:t>
            </a:r>
            <a:endParaRPr/>
          </a:p>
        </p:txBody>
      </p:sp>
      <p:grpSp>
        <p:nvGrpSpPr>
          <p:cNvPr id="89" name="Google Shape;89;p1"/>
          <p:cNvGrpSpPr/>
          <p:nvPr/>
        </p:nvGrpSpPr>
        <p:grpSpPr>
          <a:xfrm>
            <a:off x="689130" y="18897062"/>
            <a:ext cx="15115184" cy="1501508"/>
            <a:chOff x="0" y="-9525"/>
            <a:chExt cx="1263953" cy="125558"/>
          </a:xfrm>
        </p:grpSpPr>
        <p:sp>
          <p:nvSpPr>
            <p:cNvPr id="90" name="Google Shape;90;p1"/>
            <p:cNvSpPr/>
            <p:nvPr/>
          </p:nvSpPr>
          <p:spPr>
            <a:xfrm>
              <a:off x="0" y="0"/>
              <a:ext cx="1263953" cy="116033"/>
            </a:xfrm>
            <a:custGeom>
              <a:rect b="b" l="l" r="r" t="t"/>
              <a:pathLst>
                <a:path extrusionOk="0" h="116033" w="1263953">
                  <a:moveTo>
                    <a:pt x="0" y="0"/>
                  </a:moveTo>
                  <a:lnTo>
                    <a:pt x="1263953" y="0"/>
                  </a:lnTo>
                  <a:lnTo>
                    <a:pt x="1263953" y="116033"/>
                  </a:lnTo>
                  <a:lnTo>
                    <a:pt x="0" y="116033"/>
                  </a:lnTo>
                  <a:close/>
                </a:path>
              </a:pathLst>
            </a:custGeom>
            <a:solidFill>
              <a:srgbClr val="20428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1" name="Google Shape;91;p1"/>
            <p:cNvSpPr txBox="1"/>
            <p:nvPr/>
          </p:nvSpPr>
          <p:spPr>
            <a:xfrm>
              <a:off x="0" y="-9525"/>
              <a:ext cx="1263953" cy="125558"/>
            </a:xfrm>
            <a:prstGeom prst="rect">
              <a:avLst/>
            </a:prstGeom>
            <a:solidFill>
              <a:srgbClr val="204286"/>
            </a:solidFill>
            <a:ln>
              <a:noFill/>
            </a:ln>
          </p:spPr>
          <p:txBody>
            <a:bodyPr anchorCtr="0" anchor="ctr" bIns="50800" lIns="50800" spcFirstLastPara="1" rIns="50800" wrap="square" tIns="50800">
              <a:noAutofit/>
            </a:bodyPr>
            <a:lstStyle/>
            <a:p>
              <a:pPr indent="0" lvl="0" marL="0" marR="0" rtl="0" algn="ctr">
                <a:lnSpc>
                  <a:spcPct val="333333"/>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92" name="Google Shape;92;p1"/>
          <p:cNvSpPr txBox="1"/>
          <p:nvPr/>
        </p:nvSpPr>
        <p:spPr>
          <a:xfrm>
            <a:off x="725130" y="19336991"/>
            <a:ext cx="15115184" cy="78790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lang="en-US" sz="6000">
                <a:solidFill>
                  <a:srgbClr val="FFFFFF"/>
                </a:solidFill>
                <a:latin typeface="Arial"/>
                <a:ea typeface="Arial"/>
                <a:cs typeface="Arial"/>
                <a:sym typeface="Arial"/>
              </a:rPr>
              <a:t>OBJETIVOS DO ODS </a:t>
            </a:r>
            <a:endParaRPr/>
          </a:p>
        </p:txBody>
      </p:sp>
      <p:grpSp>
        <p:nvGrpSpPr>
          <p:cNvPr id="93" name="Google Shape;93;p1"/>
          <p:cNvGrpSpPr/>
          <p:nvPr/>
        </p:nvGrpSpPr>
        <p:grpSpPr>
          <a:xfrm>
            <a:off x="16605387" y="36123464"/>
            <a:ext cx="15115184" cy="1501508"/>
            <a:chOff x="0" y="-9525"/>
            <a:chExt cx="1263953" cy="125558"/>
          </a:xfrm>
        </p:grpSpPr>
        <p:sp>
          <p:nvSpPr>
            <p:cNvPr id="94" name="Google Shape;94;p1"/>
            <p:cNvSpPr/>
            <p:nvPr/>
          </p:nvSpPr>
          <p:spPr>
            <a:xfrm>
              <a:off x="0" y="0"/>
              <a:ext cx="1263953" cy="116033"/>
            </a:xfrm>
            <a:custGeom>
              <a:rect b="b" l="l" r="r" t="t"/>
              <a:pathLst>
                <a:path extrusionOk="0" h="116033" w="1263953">
                  <a:moveTo>
                    <a:pt x="0" y="0"/>
                  </a:moveTo>
                  <a:lnTo>
                    <a:pt x="1263953" y="0"/>
                  </a:lnTo>
                  <a:lnTo>
                    <a:pt x="1263953" y="116033"/>
                  </a:lnTo>
                  <a:lnTo>
                    <a:pt x="0" y="116033"/>
                  </a:lnTo>
                  <a:close/>
                </a:path>
              </a:pathLst>
            </a:custGeom>
            <a:solidFill>
              <a:srgbClr val="20428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5" name="Google Shape;95;p1"/>
            <p:cNvSpPr txBox="1"/>
            <p:nvPr/>
          </p:nvSpPr>
          <p:spPr>
            <a:xfrm>
              <a:off x="0" y="-9525"/>
              <a:ext cx="1263953" cy="125558"/>
            </a:xfrm>
            <a:prstGeom prst="rect">
              <a:avLst/>
            </a:prstGeom>
            <a:solidFill>
              <a:srgbClr val="204286"/>
            </a:solidFill>
            <a:ln>
              <a:noFill/>
            </a:ln>
          </p:spPr>
          <p:txBody>
            <a:bodyPr anchorCtr="0" anchor="ctr" bIns="50800" lIns="50800" spcFirstLastPara="1" rIns="50800" wrap="square" tIns="50800">
              <a:noAutofit/>
            </a:bodyPr>
            <a:lstStyle/>
            <a:p>
              <a:pPr indent="0" lvl="0" marL="0" marR="0" rtl="0" algn="ctr">
                <a:lnSpc>
                  <a:spcPct val="333333"/>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96" name="Google Shape;96;p1"/>
          <p:cNvSpPr txBox="1"/>
          <p:nvPr/>
        </p:nvSpPr>
        <p:spPr>
          <a:xfrm>
            <a:off x="16632292" y="36564043"/>
            <a:ext cx="15115184" cy="78790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lang="en-US" sz="6000">
                <a:solidFill>
                  <a:srgbClr val="FFFFFF"/>
                </a:solidFill>
                <a:latin typeface="Arial"/>
                <a:ea typeface="Arial"/>
                <a:cs typeface="Arial"/>
                <a:sym typeface="Arial"/>
              </a:rPr>
              <a:t>REFERÊNCIAS</a:t>
            </a:r>
            <a:endParaRPr/>
          </a:p>
        </p:txBody>
      </p:sp>
      <p:grpSp>
        <p:nvGrpSpPr>
          <p:cNvPr id="97" name="Google Shape;97;p1"/>
          <p:cNvGrpSpPr/>
          <p:nvPr/>
        </p:nvGrpSpPr>
        <p:grpSpPr>
          <a:xfrm>
            <a:off x="16610232" y="28921370"/>
            <a:ext cx="15115184" cy="1501508"/>
            <a:chOff x="0" y="-9525"/>
            <a:chExt cx="1263953" cy="125558"/>
          </a:xfrm>
        </p:grpSpPr>
        <p:sp>
          <p:nvSpPr>
            <p:cNvPr id="98" name="Google Shape;98;p1"/>
            <p:cNvSpPr/>
            <p:nvPr/>
          </p:nvSpPr>
          <p:spPr>
            <a:xfrm>
              <a:off x="0" y="0"/>
              <a:ext cx="1263953" cy="116033"/>
            </a:xfrm>
            <a:custGeom>
              <a:rect b="b" l="l" r="r" t="t"/>
              <a:pathLst>
                <a:path extrusionOk="0" h="116033" w="1263953">
                  <a:moveTo>
                    <a:pt x="0" y="0"/>
                  </a:moveTo>
                  <a:lnTo>
                    <a:pt x="1263953" y="0"/>
                  </a:lnTo>
                  <a:lnTo>
                    <a:pt x="1263953" y="116033"/>
                  </a:lnTo>
                  <a:lnTo>
                    <a:pt x="0" y="116033"/>
                  </a:lnTo>
                  <a:close/>
                </a:path>
              </a:pathLst>
            </a:custGeom>
            <a:solidFill>
              <a:srgbClr val="20428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99" name="Google Shape;99;p1"/>
            <p:cNvSpPr txBox="1"/>
            <p:nvPr/>
          </p:nvSpPr>
          <p:spPr>
            <a:xfrm>
              <a:off x="0" y="-9525"/>
              <a:ext cx="1263953" cy="125558"/>
            </a:xfrm>
            <a:prstGeom prst="rect">
              <a:avLst/>
            </a:prstGeom>
            <a:solidFill>
              <a:srgbClr val="204286"/>
            </a:solidFill>
            <a:ln>
              <a:noFill/>
            </a:ln>
          </p:spPr>
          <p:txBody>
            <a:bodyPr anchorCtr="0" anchor="ctr" bIns="50800" lIns="50800" spcFirstLastPara="1" rIns="50800" wrap="square" tIns="50800">
              <a:noAutofit/>
            </a:bodyPr>
            <a:lstStyle/>
            <a:p>
              <a:pPr indent="0" lvl="0" marL="0" marR="0" rtl="0" algn="ctr">
                <a:lnSpc>
                  <a:spcPct val="333333"/>
                </a:lnSpc>
                <a:spcBef>
                  <a:spcPts val="0"/>
                </a:spcBef>
                <a:spcAft>
                  <a:spcPts val="0"/>
                </a:spcAft>
                <a:buNone/>
              </a:pPr>
              <a:r>
                <a:t/>
              </a:r>
              <a:endParaRPr sz="1800">
                <a:solidFill>
                  <a:schemeClr val="dk1"/>
                </a:solidFill>
                <a:latin typeface="Calibri"/>
                <a:ea typeface="Calibri"/>
                <a:cs typeface="Calibri"/>
                <a:sym typeface="Calibri"/>
              </a:endParaRPr>
            </a:p>
          </p:txBody>
        </p:sp>
      </p:grpSp>
      <p:sp>
        <p:nvSpPr>
          <p:cNvPr id="100" name="Google Shape;100;p1"/>
          <p:cNvSpPr txBox="1"/>
          <p:nvPr/>
        </p:nvSpPr>
        <p:spPr>
          <a:xfrm>
            <a:off x="16637137" y="29355590"/>
            <a:ext cx="15115184" cy="923925"/>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lang="en-US" sz="6000">
                <a:solidFill>
                  <a:srgbClr val="FFFFFF"/>
                </a:solidFill>
                <a:latin typeface="Arial"/>
                <a:ea typeface="Arial"/>
                <a:cs typeface="Arial"/>
                <a:sym typeface="Arial"/>
              </a:rPr>
              <a:t>CONCLUSÕES</a:t>
            </a:r>
            <a:endParaRPr/>
          </a:p>
        </p:txBody>
      </p:sp>
      <p:sp>
        <p:nvSpPr>
          <p:cNvPr id="101" name="Google Shape;101;p1"/>
          <p:cNvSpPr txBox="1"/>
          <p:nvPr/>
        </p:nvSpPr>
        <p:spPr>
          <a:xfrm>
            <a:off x="689130" y="10629383"/>
            <a:ext cx="15115200" cy="2955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3200">
                <a:solidFill>
                  <a:schemeClr val="dk1"/>
                </a:solidFill>
              </a:rPr>
              <a:t>A ODS 7 – Energia Acessível e Limpa – busca garantir que todas as pessoas tenham acesso a fontes de energia seguras, sustentáveis e modernas. Para alcançar esse objetivo global, as engenharias desempenham um papel essencial ao desenvolver tecnologias eficientes, ampliar o uso de energias renováveis e promover soluções inovadoras que reduzam impactos ambientais e tornem o sistema energético mais justo e acessível para todos.</a:t>
            </a:r>
            <a:r>
              <a:rPr lang="en-US" sz="3200">
                <a:solidFill>
                  <a:srgbClr val="000000"/>
                </a:solidFill>
                <a:latin typeface="Arial"/>
                <a:ea typeface="Arial"/>
                <a:cs typeface="Arial"/>
                <a:sym typeface="Arial"/>
              </a:rPr>
              <a:t>	</a:t>
            </a:r>
            <a:endParaRPr sz="3200">
              <a:solidFill>
                <a:srgbClr val="000000"/>
              </a:solidFill>
              <a:latin typeface="Arial"/>
              <a:ea typeface="Arial"/>
              <a:cs typeface="Arial"/>
              <a:sym typeface="Arial"/>
            </a:endParaRPr>
          </a:p>
        </p:txBody>
      </p:sp>
      <p:sp>
        <p:nvSpPr>
          <p:cNvPr id="102" name="Google Shape;102;p1"/>
          <p:cNvSpPr txBox="1"/>
          <p:nvPr/>
        </p:nvSpPr>
        <p:spPr>
          <a:xfrm>
            <a:off x="657375" y="3634507"/>
            <a:ext cx="30952800" cy="18471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t/>
            </a:r>
            <a:endParaRPr b="1" sz="6000">
              <a:solidFill>
                <a:schemeClr val="dk1"/>
              </a:solidFill>
            </a:endParaRPr>
          </a:p>
          <a:p>
            <a:pPr indent="0" lvl="0" marL="0" marR="0" rtl="0" algn="ctr">
              <a:spcBef>
                <a:spcPts val="0"/>
              </a:spcBef>
              <a:spcAft>
                <a:spcPts val="0"/>
              </a:spcAft>
              <a:buNone/>
            </a:pPr>
            <a:r>
              <a:rPr b="1" lang="en-US" sz="6000">
                <a:solidFill>
                  <a:schemeClr val="dk1"/>
                </a:solidFill>
              </a:rPr>
              <a:t>O papel das engenharias no cumprimento da ODS 7 - Energia acessível e Limpa</a:t>
            </a:r>
            <a:endParaRPr sz="6000">
              <a:solidFill>
                <a:schemeClr val="dk1"/>
              </a:solidFill>
              <a:latin typeface="Arial"/>
              <a:ea typeface="Arial"/>
              <a:cs typeface="Arial"/>
              <a:sym typeface="Arial"/>
            </a:endParaRPr>
          </a:p>
        </p:txBody>
      </p:sp>
      <p:sp>
        <p:nvSpPr>
          <p:cNvPr id="103" name="Google Shape;103;p1"/>
          <p:cNvSpPr txBox="1"/>
          <p:nvPr/>
        </p:nvSpPr>
        <p:spPr>
          <a:xfrm>
            <a:off x="646775" y="5900924"/>
            <a:ext cx="30952800" cy="18471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4000">
                <a:solidFill>
                  <a:schemeClr val="dk1"/>
                </a:solidFill>
                <a:latin typeface="Calibri"/>
                <a:ea typeface="Calibri"/>
                <a:cs typeface="Calibri"/>
                <a:sym typeface="Calibri"/>
              </a:rPr>
              <a:t>Igor Daniel Meneses Fonseca, José Pedro Barros dos Santos, Davi dos Santos Passos, Luiz Guilherme Marinho da Cunha, Senildo Edson da Silva Júnior, Luiz Eduardo de Souza Lopes, Guilherme Freitas da Silva Ferreira, Ellen Wanessa Charles Matias</a:t>
            </a:r>
            <a:endParaRPr b="1" sz="4000">
              <a:solidFill>
                <a:schemeClr val="dk1"/>
              </a:solidFill>
              <a:latin typeface="Calibri"/>
              <a:ea typeface="Calibri"/>
              <a:cs typeface="Calibri"/>
              <a:sym typeface="Calibri"/>
            </a:endParaRPr>
          </a:p>
          <a:p>
            <a:pPr indent="0" lvl="0" marL="0" marR="0" rtl="0" algn="ctr">
              <a:spcBef>
                <a:spcPts val="0"/>
              </a:spcBef>
              <a:spcAft>
                <a:spcPts val="0"/>
              </a:spcAft>
              <a:buNone/>
            </a:pPr>
            <a:r>
              <a:rPr b="1" lang="en-US" sz="4000">
                <a:solidFill>
                  <a:schemeClr val="dk1"/>
                </a:solidFill>
                <a:latin typeface="Calibri"/>
                <a:ea typeface="Calibri"/>
                <a:cs typeface="Calibri"/>
                <a:sym typeface="Calibri"/>
              </a:rPr>
              <a:t> </a:t>
            </a:r>
            <a:r>
              <a:rPr lang="en-US" sz="4000">
                <a:solidFill>
                  <a:schemeClr val="dk1"/>
                </a:solidFill>
                <a:latin typeface="Calibri"/>
                <a:ea typeface="Calibri"/>
                <a:cs typeface="Calibri"/>
                <a:sym typeface="Calibri"/>
              </a:rPr>
              <a:t>Universidade Federal do Rio Grande do Norte, Escola de Ciências e Tecnologia, INTRODUÇÃO ÀS CIÊNCIAS E TECNOLOGIAS</a:t>
            </a:r>
            <a:endParaRPr sz="4000"/>
          </a:p>
        </p:txBody>
      </p:sp>
      <p:sp>
        <p:nvSpPr>
          <p:cNvPr id="104" name="Google Shape;104;p1"/>
          <p:cNvSpPr txBox="1"/>
          <p:nvPr/>
        </p:nvSpPr>
        <p:spPr>
          <a:xfrm>
            <a:off x="16632292" y="37775343"/>
            <a:ext cx="15115200" cy="2954700"/>
          </a:xfrm>
          <a:prstGeom prst="rect">
            <a:avLst/>
          </a:prstGeom>
          <a:noFill/>
          <a:ln>
            <a:noFill/>
          </a:ln>
        </p:spPr>
        <p:txBody>
          <a:bodyPr anchorCtr="0" anchor="t" bIns="0" lIns="0" spcFirstLastPara="1" rIns="0" wrap="square" tIns="0">
            <a:spAutoFit/>
          </a:bodyPr>
          <a:lstStyle/>
          <a:p>
            <a:pPr indent="0" lvl="0" marL="0" marR="0" rtl="0" algn="just">
              <a:lnSpc>
                <a:spcPct val="124968"/>
              </a:lnSpc>
              <a:spcBef>
                <a:spcPts val="0"/>
              </a:spcBef>
              <a:spcAft>
                <a:spcPts val="0"/>
              </a:spcAft>
              <a:buNone/>
            </a:pPr>
            <a:r>
              <a:rPr lang="en-US" sz="3200"/>
              <a:t>https://www.fne.org.br/index.php/artigos/7496-artigo-as-engenharias-promovem-sustentabilidade</a:t>
            </a:r>
            <a:endParaRPr sz="3200"/>
          </a:p>
          <a:p>
            <a:pPr indent="0" lvl="0" marL="0" marR="0" rtl="0" algn="just">
              <a:lnSpc>
                <a:spcPct val="124968"/>
              </a:lnSpc>
              <a:spcBef>
                <a:spcPts val="0"/>
              </a:spcBef>
              <a:spcAft>
                <a:spcPts val="0"/>
              </a:spcAft>
              <a:buNone/>
            </a:pPr>
            <a:r>
              <a:rPr lang="en-US" sz="3200"/>
              <a:t>https://sdgs.un.org </a:t>
            </a:r>
            <a:endParaRPr sz="3200"/>
          </a:p>
          <a:p>
            <a:pPr indent="0" lvl="0" marL="0" marR="0" rtl="0" algn="just">
              <a:lnSpc>
                <a:spcPct val="124968"/>
              </a:lnSpc>
              <a:spcBef>
                <a:spcPts val="0"/>
              </a:spcBef>
              <a:spcAft>
                <a:spcPts val="0"/>
              </a:spcAft>
              <a:buNone/>
            </a:pPr>
            <a:r>
              <a:rPr lang="en-US" sz="3200"/>
              <a:t>https://www.ons.org.br </a:t>
            </a:r>
            <a:endParaRPr sz="3200"/>
          </a:p>
          <a:p>
            <a:pPr indent="0" lvl="0" marL="0" marR="0" rtl="0" algn="just">
              <a:lnSpc>
                <a:spcPct val="124968"/>
              </a:lnSpc>
              <a:spcBef>
                <a:spcPts val="0"/>
              </a:spcBef>
              <a:spcAft>
                <a:spcPts val="0"/>
              </a:spcAft>
              <a:buNone/>
            </a:pPr>
            <a:r>
              <a:rPr lang="en-US" sz="3200"/>
              <a:t>https://www.ccee.org.br/dados-e-analises/dados-geracao</a:t>
            </a:r>
            <a:endParaRPr/>
          </a:p>
        </p:txBody>
      </p:sp>
      <p:sp>
        <p:nvSpPr>
          <p:cNvPr id="105" name="Google Shape;105;p1"/>
          <p:cNvSpPr txBox="1"/>
          <p:nvPr/>
        </p:nvSpPr>
        <p:spPr>
          <a:xfrm>
            <a:off x="16600542" y="30990470"/>
            <a:ext cx="15115200" cy="4869600"/>
          </a:xfrm>
          <a:prstGeom prst="rect">
            <a:avLst/>
          </a:prstGeom>
          <a:noFill/>
          <a:ln>
            <a:noFill/>
          </a:ln>
        </p:spPr>
        <p:txBody>
          <a:bodyPr anchorCtr="0" anchor="t" bIns="0" lIns="0" spcFirstLastPara="1" rIns="0" wrap="square" tIns="0">
            <a:spAutoFit/>
          </a:bodyPr>
          <a:lstStyle/>
          <a:p>
            <a:pPr indent="0" lvl="0" marL="0" marR="0" rtl="0" algn="just">
              <a:lnSpc>
                <a:spcPct val="111083"/>
              </a:lnSpc>
              <a:spcBef>
                <a:spcPts val="0"/>
              </a:spcBef>
              <a:spcAft>
                <a:spcPts val="0"/>
              </a:spcAft>
              <a:buNone/>
            </a:pPr>
            <a:r>
              <a:rPr lang="en-US" sz="3200"/>
              <a:t>Diante do exposto, pode-se concluir que o cumprimento da ODS 7 exige uma atuação integrada e multidisciplinar dentro da engenharia, já que diferentes campos contribuem de forma complementar para ampliar o acesso à energia limpa, melhorar a eficiência dos sistemas, modernizar infraestruturas e promover soluções sustentáveis. A combinação desses conhecimentos permite desenvolver tecnologias inovadoras, otimizar processos e garantir que a transição energética seja viável, segura e acessível. Assim, a engenharia como um todo se torna essencial para transformar o sistema energético global e assegurar energia moderna e sustentável para todos.</a:t>
            </a:r>
            <a:endParaRPr sz="3200">
              <a:solidFill>
                <a:srgbClr val="000000"/>
              </a:solidFill>
              <a:latin typeface="Arial"/>
              <a:ea typeface="Arial"/>
              <a:cs typeface="Arial"/>
              <a:sym typeface="Arial"/>
            </a:endParaRPr>
          </a:p>
        </p:txBody>
      </p:sp>
      <p:sp>
        <p:nvSpPr>
          <p:cNvPr id="106" name="Google Shape;106;p1"/>
          <p:cNvSpPr txBox="1"/>
          <p:nvPr/>
        </p:nvSpPr>
        <p:spPr>
          <a:xfrm>
            <a:off x="785408" y="15580851"/>
            <a:ext cx="15115200" cy="2154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t/>
            </a:r>
            <a:endParaRPr/>
          </a:p>
        </p:txBody>
      </p:sp>
      <p:pic>
        <p:nvPicPr>
          <p:cNvPr descr="Diagrama, Logotipo&#10;&#10;O conteúdo gerado por IA pode estar incorreto." id="107" name="Google Shape;107;p1"/>
          <p:cNvPicPr preferRelativeResize="0"/>
          <p:nvPr/>
        </p:nvPicPr>
        <p:blipFill rotWithShape="1">
          <a:blip r:embed="rId3">
            <a:alphaModFix/>
          </a:blip>
          <a:srcRect b="0" l="0" r="0" t="0"/>
          <a:stretch/>
        </p:blipFill>
        <p:spPr>
          <a:xfrm>
            <a:off x="3017949" y="451739"/>
            <a:ext cx="6441770" cy="3092048"/>
          </a:xfrm>
          <a:prstGeom prst="rect">
            <a:avLst/>
          </a:prstGeom>
          <a:noFill/>
          <a:ln>
            <a:noFill/>
          </a:ln>
        </p:spPr>
      </p:pic>
      <p:pic>
        <p:nvPicPr>
          <p:cNvPr descr="Logotipo, nome da empresa&#10;&#10;O conteúdo gerado por IA pode estar incorreto." id="108" name="Google Shape;108;p1"/>
          <p:cNvPicPr preferRelativeResize="0"/>
          <p:nvPr/>
        </p:nvPicPr>
        <p:blipFill rotWithShape="1">
          <a:blip r:embed="rId4">
            <a:alphaModFix/>
          </a:blip>
          <a:srcRect b="21649" l="14844" r="12499" t="26162"/>
          <a:stretch/>
        </p:blipFill>
        <p:spPr>
          <a:xfrm>
            <a:off x="23113816" y="115322"/>
            <a:ext cx="5398510" cy="3877701"/>
          </a:xfrm>
          <a:prstGeom prst="rect">
            <a:avLst/>
          </a:prstGeom>
          <a:noFill/>
          <a:ln>
            <a:noFill/>
          </a:ln>
        </p:spPr>
      </p:pic>
      <p:pic>
        <p:nvPicPr>
          <p:cNvPr descr="Logotipo&#10;&#10;O conteúdo gerado por IA pode estar incorreto." id="109" name="Google Shape;109;p1"/>
          <p:cNvPicPr preferRelativeResize="0"/>
          <p:nvPr/>
        </p:nvPicPr>
        <p:blipFill rotWithShape="1">
          <a:blip r:embed="rId5">
            <a:alphaModFix/>
          </a:blip>
          <a:srcRect b="0" l="0" r="0" t="0"/>
          <a:stretch/>
        </p:blipFill>
        <p:spPr>
          <a:xfrm>
            <a:off x="12977965" y="713960"/>
            <a:ext cx="6441770" cy="2215208"/>
          </a:xfrm>
          <a:prstGeom prst="rect">
            <a:avLst/>
          </a:prstGeom>
          <a:noFill/>
          <a:ln>
            <a:noFill/>
          </a:ln>
        </p:spPr>
      </p:pic>
      <p:sp>
        <p:nvSpPr>
          <p:cNvPr id="110" name="Google Shape;110;p1"/>
          <p:cNvSpPr/>
          <p:nvPr/>
        </p:nvSpPr>
        <p:spPr>
          <a:xfrm>
            <a:off x="16504911" y="8806084"/>
            <a:ext cx="15115184" cy="1387602"/>
          </a:xfrm>
          <a:custGeom>
            <a:rect b="b" l="l" r="r" t="t"/>
            <a:pathLst>
              <a:path extrusionOk="0" h="116033" w="1263953">
                <a:moveTo>
                  <a:pt x="0" y="0"/>
                </a:moveTo>
                <a:lnTo>
                  <a:pt x="1263953" y="0"/>
                </a:lnTo>
                <a:lnTo>
                  <a:pt x="1263953" y="116033"/>
                </a:lnTo>
                <a:lnTo>
                  <a:pt x="0" y="116033"/>
                </a:lnTo>
                <a:close/>
              </a:path>
            </a:pathLst>
          </a:custGeom>
          <a:solidFill>
            <a:srgbClr val="204286"/>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sp>
        <p:nvSpPr>
          <p:cNvPr id="111" name="Google Shape;111;p1"/>
          <p:cNvSpPr txBox="1"/>
          <p:nvPr/>
        </p:nvSpPr>
        <p:spPr>
          <a:xfrm>
            <a:off x="16593386" y="10514000"/>
            <a:ext cx="15115200" cy="14007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t/>
            </a:r>
            <a:endParaRPr/>
          </a:p>
          <a:p>
            <a:pPr indent="0" lvl="0" marL="0" marR="0" rtl="0" algn="l">
              <a:spcBef>
                <a:spcPts val="0"/>
              </a:spcBef>
              <a:spcAft>
                <a:spcPts val="0"/>
              </a:spcAft>
              <a:buNone/>
            </a:pPr>
            <a:r>
              <a:rPr lang="en-US" sz="3200">
                <a:solidFill>
                  <a:schemeClr val="dk1"/>
                </a:solidFill>
              </a:rPr>
              <a:t>As engenharias desempenham um papel fundamental para o cumprimento da ODS 7 , engenheiros projetam tecnologias limpas, aprimoram dispositivos de armazenamento e conversão de energia, criam métodos de construção mais sustentáveis e implementam sistemas inteligentes que reduzem perdas e tornam o acesso à energia mais seguro, estável e acessível. </a:t>
            </a:r>
            <a:endParaRPr sz="3200">
              <a:solidFill>
                <a:schemeClr val="dk1"/>
              </a:solidFill>
            </a:endParaRPr>
          </a:p>
          <a:p>
            <a:pPr indent="0" lvl="0" marL="0" marR="0" rtl="0" algn="l">
              <a:spcBef>
                <a:spcPts val="0"/>
              </a:spcBef>
              <a:spcAft>
                <a:spcPts val="0"/>
              </a:spcAft>
              <a:buNone/>
            </a:pPr>
            <a:r>
              <a:t/>
            </a:r>
            <a:endParaRPr sz="3200">
              <a:solidFill>
                <a:schemeClr val="dk1"/>
              </a:solidFill>
            </a:endParaRPr>
          </a:p>
          <a:p>
            <a:pPr indent="0" lvl="0" marL="0" marR="0" rtl="0" algn="l">
              <a:spcBef>
                <a:spcPts val="0"/>
              </a:spcBef>
              <a:spcAft>
                <a:spcPts val="0"/>
              </a:spcAft>
              <a:buNone/>
            </a:pPr>
            <a:r>
              <a:rPr lang="en-US" sz="3200">
                <a:solidFill>
                  <a:schemeClr val="dk1"/>
                </a:solidFill>
              </a:rPr>
              <a:t>Diversas áreas da engenharia contribuem diretamente para o alcance da ODS 7. Como a Engenharia Elétrica, que desenvolve e moderniza sistemas de geração, transmissão e distribuição de energia, além de integrar fontes renováveis como solar e eólica. A Engenharia Mecânica, onde o </a:t>
            </a:r>
            <a:r>
              <a:rPr lang="en-US" sz="3200">
                <a:solidFill>
                  <a:schemeClr val="dk1"/>
                </a:solidFill>
              </a:rPr>
              <a:t>profissional</a:t>
            </a:r>
            <a:r>
              <a:rPr lang="en-US" sz="3200">
                <a:solidFill>
                  <a:schemeClr val="dk1"/>
                </a:solidFill>
              </a:rPr>
              <a:t> atua no projeto de turbinas, sistemas de conversão energética e equipamentos mais eficientes. A Engenharia Civil planeja e constrói infraestruturas energéticas seguras, como usinas, barragens e redes de distribuição. Já a Engenharia Ambiental analisa impactos, promove o uso sustentável dos recursos naturais e apoia a transição para tecnologias limpas. A Engenharia de Produção otimiza processos industriais para reduzir desperdícios e consumo energético. E a Engenharia Química desenvolve biocombustíveis, baterias e novos materiais para armazenamento e conversão de energia. </a:t>
            </a:r>
            <a:endParaRPr sz="3200">
              <a:solidFill>
                <a:schemeClr val="dk1"/>
              </a:solidFill>
            </a:endParaRPr>
          </a:p>
          <a:p>
            <a:pPr indent="0" lvl="0" marL="0" marR="0" rtl="0" algn="l">
              <a:spcBef>
                <a:spcPts val="0"/>
              </a:spcBef>
              <a:spcAft>
                <a:spcPts val="0"/>
              </a:spcAft>
              <a:buNone/>
            </a:pPr>
            <a:r>
              <a:t/>
            </a:r>
            <a:endParaRPr sz="3200">
              <a:solidFill>
                <a:schemeClr val="dk1"/>
              </a:solidFill>
            </a:endParaRPr>
          </a:p>
          <a:p>
            <a:pPr indent="0" lvl="0" marL="0" marR="0" rtl="0" algn="l">
              <a:spcBef>
                <a:spcPts val="0"/>
              </a:spcBef>
              <a:spcAft>
                <a:spcPts val="0"/>
              </a:spcAft>
              <a:buNone/>
            </a:pPr>
            <a:r>
              <a:rPr lang="en-US" sz="3200">
                <a:solidFill>
                  <a:schemeClr val="dk1"/>
                </a:solidFill>
              </a:rPr>
              <a:t>Além, é claro, da engenharia de energia, onde os profissionais atuam no desenvolvimento e integração de fontes renováveis, pesquisa e desenvolvimento  da eficiência energética, e na criação e gerenciamento de sistemas sustentáveis, econômicos e tecnologicamente avançados, reduzindo impactos ambientais e tornando a energia mais limpa, segura e acessível para toda a população, contribuindo diretamente para a transição energética global.</a:t>
            </a:r>
            <a:endParaRPr sz="3200">
              <a:solidFill>
                <a:schemeClr val="dk1"/>
              </a:solidFill>
            </a:endParaRPr>
          </a:p>
          <a:p>
            <a:pPr indent="0" lvl="0" marL="0" marR="0" rtl="0" algn="l">
              <a:spcBef>
                <a:spcPts val="0"/>
              </a:spcBef>
              <a:spcAft>
                <a:spcPts val="0"/>
              </a:spcAft>
              <a:buNone/>
            </a:pPr>
            <a:r>
              <a:t/>
            </a:r>
            <a:endParaRPr sz="3200">
              <a:solidFill>
                <a:schemeClr val="dk1"/>
              </a:solidFill>
            </a:endParaRPr>
          </a:p>
          <a:p>
            <a:pPr indent="0" lvl="0" marL="0" marR="0" rtl="0" algn="l">
              <a:spcBef>
                <a:spcPts val="0"/>
              </a:spcBef>
              <a:spcAft>
                <a:spcPts val="0"/>
              </a:spcAft>
              <a:buNone/>
            </a:pPr>
            <a:r>
              <a:rPr lang="en-US" sz="3200">
                <a:solidFill>
                  <a:schemeClr val="dk1"/>
                </a:solidFill>
              </a:rPr>
              <a:t>Juntas, essas áreas impulsionam soluções inovadoras que tornam a energia mais limpa, acessível e eficiente</a:t>
            </a:r>
            <a:r>
              <a:rPr lang="en-US" sz="3200"/>
              <a:t>.</a:t>
            </a:r>
            <a:endParaRPr sz="3200">
              <a:solidFill>
                <a:srgbClr val="000000"/>
              </a:solidFill>
              <a:latin typeface="Arial"/>
              <a:ea typeface="Arial"/>
              <a:cs typeface="Arial"/>
              <a:sym typeface="Arial"/>
            </a:endParaRPr>
          </a:p>
        </p:txBody>
      </p:sp>
      <p:sp>
        <p:nvSpPr>
          <p:cNvPr id="112" name="Google Shape;112;p1"/>
          <p:cNvSpPr txBox="1"/>
          <p:nvPr/>
        </p:nvSpPr>
        <p:spPr>
          <a:xfrm>
            <a:off x="689130" y="21168382"/>
            <a:ext cx="15115200" cy="9635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t/>
            </a:r>
            <a:endParaRPr/>
          </a:p>
          <a:p>
            <a:pPr indent="0" lvl="0" marL="0" marR="0" rtl="0" algn="l">
              <a:spcBef>
                <a:spcPts val="0"/>
              </a:spcBef>
              <a:spcAft>
                <a:spcPts val="0"/>
              </a:spcAft>
              <a:buNone/>
            </a:pPr>
            <a:r>
              <a:rPr lang="en-US" sz="3200">
                <a:solidFill>
                  <a:schemeClr val="dk1"/>
                </a:solidFill>
              </a:rPr>
              <a:t>O ODS 7 tem como objetivo garantir o acesso universal, confiável e sustentável à energia até 2030. Para isso, promove a expansão de energias renováveis, o aumento da eficiência energética, o investimento em infraestrutura moderna e a inovação tecnológica. Também busca ampliar o acesso de países em desenvolvimento a recursos e tecnologias limpas, fortalecendo a transição global para um sistema energético mais sustentável.</a:t>
            </a:r>
            <a:endParaRPr sz="3200">
              <a:solidFill>
                <a:schemeClr val="dk1"/>
              </a:solidFill>
            </a:endParaRPr>
          </a:p>
          <a:p>
            <a:pPr indent="0" lvl="0" marL="0" marR="0" rtl="0" algn="l">
              <a:spcBef>
                <a:spcPts val="0"/>
              </a:spcBef>
              <a:spcAft>
                <a:spcPts val="0"/>
              </a:spcAft>
              <a:buNone/>
            </a:pPr>
            <a:r>
              <a:t/>
            </a:r>
            <a:endParaRPr sz="3200">
              <a:solidFill>
                <a:schemeClr val="dk1"/>
              </a:solidFill>
            </a:endParaRPr>
          </a:p>
          <a:p>
            <a:pPr indent="0" lvl="0" marL="0" marR="0" rtl="0" algn="l">
              <a:spcBef>
                <a:spcPts val="0"/>
              </a:spcBef>
              <a:spcAft>
                <a:spcPts val="0"/>
              </a:spcAft>
              <a:buNone/>
            </a:pPr>
            <a:r>
              <a:rPr lang="en-US" sz="3200">
                <a:solidFill>
                  <a:schemeClr val="dk1"/>
                </a:solidFill>
              </a:rPr>
              <a:t>Objetivos Específicos da ODS 7 – Energia Acessível e Limpa:</a:t>
            </a:r>
            <a:endParaRPr sz="3200">
              <a:solidFill>
                <a:schemeClr val="dk1"/>
              </a:solidFill>
            </a:endParaRPr>
          </a:p>
          <a:p>
            <a:pPr indent="0" lvl="0" marL="0" marR="0" rtl="0" algn="l">
              <a:spcBef>
                <a:spcPts val="0"/>
              </a:spcBef>
              <a:spcAft>
                <a:spcPts val="0"/>
              </a:spcAft>
              <a:buNone/>
            </a:pPr>
            <a:r>
              <a:rPr lang="en-US" sz="3200">
                <a:solidFill>
                  <a:schemeClr val="dk1"/>
                </a:solidFill>
              </a:rPr>
              <a:t> </a:t>
            </a:r>
            <a:endParaRPr sz="3200">
              <a:solidFill>
                <a:schemeClr val="dk1"/>
              </a:solidFill>
            </a:endParaRPr>
          </a:p>
          <a:p>
            <a:pPr indent="0" lvl="0" marL="0" marR="0" rtl="0" algn="l">
              <a:spcBef>
                <a:spcPts val="0"/>
              </a:spcBef>
              <a:spcAft>
                <a:spcPts val="0"/>
              </a:spcAft>
              <a:buNone/>
            </a:pPr>
            <a:r>
              <a:rPr lang="en-US" sz="3200">
                <a:solidFill>
                  <a:schemeClr val="dk1"/>
                </a:solidFill>
              </a:rPr>
              <a:t>7.1 – Garantir acesso universal a serviços de energia acessíveis, confiáveis e modernos. </a:t>
            </a:r>
            <a:endParaRPr sz="3200">
              <a:solidFill>
                <a:schemeClr val="dk1"/>
              </a:solidFill>
            </a:endParaRPr>
          </a:p>
          <a:p>
            <a:pPr indent="0" lvl="0" marL="0" marR="0" rtl="0" algn="l">
              <a:spcBef>
                <a:spcPts val="0"/>
              </a:spcBef>
              <a:spcAft>
                <a:spcPts val="0"/>
              </a:spcAft>
              <a:buNone/>
            </a:pPr>
            <a:r>
              <a:rPr lang="en-US" sz="3200">
                <a:solidFill>
                  <a:schemeClr val="dk1"/>
                </a:solidFill>
              </a:rPr>
              <a:t>7.2 – Aumentar significativamente a participação de energias renováveis na matriz energética global. </a:t>
            </a:r>
            <a:endParaRPr sz="3200">
              <a:solidFill>
                <a:schemeClr val="dk1"/>
              </a:solidFill>
            </a:endParaRPr>
          </a:p>
          <a:p>
            <a:pPr indent="0" lvl="0" marL="0" marR="0" rtl="0" algn="l">
              <a:spcBef>
                <a:spcPts val="0"/>
              </a:spcBef>
              <a:spcAft>
                <a:spcPts val="0"/>
              </a:spcAft>
              <a:buNone/>
            </a:pPr>
            <a:r>
              <a:rPr lang="en-US" sz="3200">
                <a:solidFill>
                  <a:schemeClr val="dk1"/>
                </a:solidFill>
              </a:rPr>
              <a:t>7.3 – Dobrar a taxa global de melhoria da eficiência energética. </a:t>
            </a:r>
            <a:endParaRPr sz="3200">
              <a:solidFill>
                <a:schemeClr val="dk1"/>
              </a:solidFill>
            </a:endParaRPr>
          </a:p>
          <a:p>
            <a:pPr indent="0" lvl="0" marL="0" marR="0" rtl="0" algn="l">
              <a:spcBef>
                <a:spcPts val="0"/>
              </a:spcBef>
              <a:spcAft>
                <a:spcPts val="0"/>
              </a:spcAft>
              <a:buNone/>
            </a:pPr>
            <a:r>
              <a:rPr lang="en-US" sz="3200">
                <a:solidFill>
                  <a:schemeClr val="dk1"/>
                </a:solidFill>
              </a:rPr>
              <a:t>7.a – Fortalecer a cooperação internacional para facilitar o acesso à pesquisa e tecnologias limpas, incluindo energias renováveis e eficiência energética. </a:t>
            </a:r>
            <a:endParaRPr sz="3200">
              <a:solidFill>
                <a:schemeClr val="dk1"/>
              </a:solidFill>
            </a:endParaRPr>
          </a:p>
          <a:p>
            <a:pPr indent="0" lvl="0" marL="0" marR="0" rtl="0" algn="l">
              <a:spcBef>
                <a:spcPts val="0"/>
              </a:spcBef>
              <a:spcAft>
                <a:spcPts val="0"/>
              </a:spcAft>
              <a:buNone/>
            </a:pPr>
            <a:r>
              <a:rPr lang="en-US" sz="3200">
                <a:solidFill>
                  <a:schemeClr val="dk1"/>
                </a:solidFill>
              </a:rPr>
              <a:t>7.b – Expandir a infraestrutura e modernizar tecnologias de fornecimento de energia, especialmente em países em desenvolvimento.</a:t>
            </a:r>
            <a:endParaRPr sz="3200">
              <a:solidFill>
                <a:schemeClr val="dk1"/>
              </a:solidFill>
            </a:endParaRPr>
          </a:p>
          <a:p>
            <a:pPr indent="0" lvl="0" marL="0" marR="0" rtl="0" algn="l">
              <a:spcBef>
                <a:spcPts val="0"/>
              </a:spcBef>
              <a:spcAft>
                <a:spcPts val="0"/>
              </a:spcAft>
              <a:buNone/>
            </a:pPr>
            <a:r>
              <a:t/>
            </a:r>
            <a:endParaRPr sz="3600">
              <a:solidFill>
                <a:schemeClr val="dk1"/>
              </a:solidFill>
            </a:endParaRPr>
          </a:p>
        </p:txBody>
      </p:sp>
      <p:sp>
        <p:nvSpPr>
          <p:cNvPr id="113" name="Google Shape;113;p1"/>
          <p:cNvSpPr txBox="1"/>
          <p:nvPr/>
        </p:nvSpPr>
        <p:spPr>
          <a:xfrm>
            <a:off x="16473161" y="9128904"/>
            <a:ext cx="15115184" cy="78790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lang="en-US" sz="6000">
                <a:solidFill>
                  <a:srgbClr val="FFFFFF"/>
                </a:solidFill>
                <a:latin typeface="Arial"/>
                <a:ea typeface="Arial"/>
                <a:cs typeface="Arial"/>
                <a:sym typeface="Arial"/>
              </a:rPr>
              <a:t>PAPEL DAS ENGENHARIAS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dc:creator>Fernando Cotting</dc:creator>
</cp:coreProperties>
</file>